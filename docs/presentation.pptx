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23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אפליקציית טיולים\public\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86868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pPr rtl="1" algn="ctr" indent="0" marL="0">
              <a:buNone/>
            </a:pPr>
            <a:r>
              <a:rPr lang="en-US" sz="54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9184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מלווה הטיולים שלך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2255368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אפליקציית ווב בעברית מלאה לתכנון וליווי טיול — מסלול, מסמכים, צ'קליסט, וסוכן AI עם כלים ומקור ידע.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432408" y="5120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spc="150" kern="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תאריך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432408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05/10/2026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41368" y="5120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spc="150" kern="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מגיש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541368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רועי אסדו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650328" y="5120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spc="150" kern="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קורס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650328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Automation Specialist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בניתי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מלווה טיולים בעברית, RTL מלא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26464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אפליקציית ווב (גם PWA להתקנה על מסך הבית) לתכנון וליווי טיול — עובדת ידנית לגמרי, ועם שכבת AI אופציונלית שלא חובה כדי להתחיל.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04327" y="214884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41487" y="227685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41487" y="280720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מסכים לכל טיול: בית, מסלול, מומלצים, מסמכים, צ'קליסט, שאל את הסוכן, ואשף יצירה בן 4 שלבים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7583" y="214884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4743" y="227685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4743" y="280720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כלים שהסוכן יכול להפעיל — הוספה למסלול, הוספה למומלצים, חיפוש כשרות/שבת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0839" y="214884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7999" y="227685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07999" y="280720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טבלאות במסד הנתונים, כולן עם הרשאות ברמת שורה (RLS)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48095" y="3794760"/>
            <a:ext cx="5303520" cy="2148840"/>
          </a:xfrm>
          <a:prstGeom prst="roundRect">
            <a:avLst>
              <a:gd name="adj" fmla="val 5106"/>
            </a:avLst>
          </a:prstGeom>
          <a:solidFill>
            <a:srgbClr val="D7F2EF"/>
          </a:solidFill>
          <a:ln w="12700">
            <a:solidFill>
              <a:srgbClr val="0E9C9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76695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🧳 כסוכן נסיעות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76695" y="443484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מיתוג סוכנות, קישור שיתוף לצפייה בלבד ללקוח, שכפול טיול כתבנית, ייבוא נוסעים בכמות, שדה מדריך עם קישור וואטסאפ לטיול מאורגן.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5303520" cy="2148840"/>
          </a:xfrm>
          <a:prstGeom prst="roundRect">
            <a:avLst>
              <a:gd name="adj" fmla="val 5106"/>
            </a:avLst>
          </a:prstGeom>
          <a:solidFill>
            <a:srgbClr val="FCE6DD"/>
          </a:solidFill>
          <a:ln w="12700">
            <a:solidFill>
              <a:srgbClr val="EE6D4E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B8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 כטייל פרטי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43484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הזנה ידנית מלאה של טיסות ולינה, בלי צורך ב-AI כדי להתחיל — הסוכן שימושי אחר כך, לא חובה מהרגע הראשון.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זה בנוי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ארבע שכבות + אוטומציה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26464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שכבה עצמאית — אם ה-AI לא זמין, האפליקציה עדיין עובדת במלואה עם נתונים שהוזנו ידנית.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9895" y="228600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84487" y="243230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שכבת לקוח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384487" y="272491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384487" y="3200400"/>
            <a:ext cx="2002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  <a:p>
            <a:pPr rtl="1" algn="r" marL="152400" indent="-1524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</a:t>
            </a:r>
            <a:endParaRPr lang="en-US" sz="950" dirty="0"/>
          </a:p>
          <a:p>
            <a:pPr rtl="1" algn="r" marL="152400" indent="-1524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 עיצוב עצמית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854135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68135" y="228600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32727" y="243230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732727" y="272491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 · סודות בשרת בלבד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32727" y="3200400"/>
            <a:ext cx="2002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— סוכן, tool-use, 3 כלים</a:t>
            </a:r>
            <a:endParaRPr lang="en-US" sz="950" dirty="0"/>
          </a:p>
          <a:p>
            <a:pPr rtl="1" algn="r" marL="152400" indent="-1524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— המלצות/מסלול/דרכון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202375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16375" y="228600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080967" y="243230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080967" y="272491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Auth + Storage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080967" y="3200400"/>
            <a:ext cx="2002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טבלאות, RLS על כל אחת</a:t>
            </a:r>
            <a:endParaRPr lang="en-US" sz="950" dirty="0"/>
          </a:p>
          <a:p>
            <a:pPr rtl="1" algn="r" marL="152400" indent="-1524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agent_runs — עלות וזמן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550615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64615" y="228600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429207" y="243230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 ידע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429207" y="272491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429207" y="3200400"/>
            <a:ext cx="20025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AI embeddings</a:t>
            </a:r>
            <a:endParaRPr lang="en-US" sz="950" dirty="0"/>
          </a:p>
          <a:p>
            <a:pPr rtl="1" algn="r" marL="152400" indent="-1524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יעדים, כל תשובה מצטטת מקור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5029200"/>
            <a:ext cx="10911535" cy="1051560"/>
          </a:xfrm>
          <a:prstGeom prst="roundRect">
            <a:avLst>
              <a:gd name="adj" fmla="val 10435"/>
            </a:avLst>
          </a:prstGeom>
          <a:solidFill>
            <a:srgbClr val="FDF0D9"/>
          </a:solidFill>
          <a:ln w="12700">
            <a:solidFill>
              <a:srgbClr val="F2AB2E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5175504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8A5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אוטומציה — n8n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53212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תרחיש: תזכורת שבוע לפני יציאה, עם Retry ו-Error Workflow. רץ כרגע ב-Docker מקומי — לא זמין כשהמחשב כבוי. מתועד בכוונה, לא מוסתר.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תשתית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שלושה שירותי ענן מנוהלים + Docker מקומי אחד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91295" y="237744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74175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Vercel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74175" y="306324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כתובת חיה, פריסה דרך CLI. עדכון = פקודה אחת אחרי push.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8095" y="237744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30975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Supabase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30975" y="306324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מנוהל, Auth, Storage, Edge Functions — פרויקט אחד.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04895" y="237744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87775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Anthropic + Voyage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87775" y="306324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השפה והטמעות ל-RAG — מפתחות כ-secrets בצד שרת בלבד.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1695" y="237744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44575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n8n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44575" y="306324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מקומי. מספיק להגשה, לא תמיד-דלוק לשימוש מתמשך.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הבסיס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אחד, סכמה גרסתית בגיט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10911535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542032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טבלאות, כולן עם Row Level Security — כלל הגישה נאכף במסד הנתונים עצמו, לא רק בקוד הלקוח. הרשאות לפי תפקיד בטיול (בעלים, עורך, משתתף, צופה) עוברות דרך פונקציות SECURITY DEFINER ממוקדות (can_view_trip(), can_edit_trip(), has_role()) במקום הרפיית ההרשאות עצמן.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0911535" cy="1554480"/>
          </a:xfrm>
          <a:prstGeom prst="roundRect">
            <a:avLst>
              <a:gd name="adj" fmla="val 7059"/>
            </a:avLst>
          </a:prstGeom>
          <a:solidFill>
            <a:srgbClr val="D7F2EF"/>
          </a:solidFill>
          <a:ln w="12700">
            <a:solidFill>
              <a:srgbClr val="0E9C9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45262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זה מתעדכן: </a:t>
            </a:r>
            <a:pPr rtl="1" algn="r" indent="0" marL="0">
              <a:buNone/>
            </a:pPr>
            <a:r>
              <a:rPr lang="en-US" sz="1300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שינוי סכמה הוא קובץ SQL ממוספר תחת supabase/migrations/ (002–020) — מתועד, בהיסטוריית git, ומופעל על המסד החי. supabase/schema.sql הוא סכמת הבסיס, ומסד חדש נבנה ממנה ומכל המיגרציות לפי הסדר.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תהליך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תהליך, לא רק תוצאה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26464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עבדתי מול Claude Code כשותף פיתוח, לפי בריף כתוב מראש עם תוכנית של 16 ימים — שלב אחד בכל פעם.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85855" y="2148840"/>
            <a:ext cx="365760" cy="365760"/>
          </a:xfrm>
          <a:prstGeom prst="ellipse">
            <a:avLst/>
          </a:prstGeom>
          <a:solidFill>
            <a:srgbClr val="D7F2EF"/>
          </a:solidFill>
          <a:ln w="12700">
            <a:solidFill>
              <a:srgbClr val="0E9C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85855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לפני כל קוד — לאמת מול המציאות.  </a:t>
            </a:r>
            <a:pPr rtl="1" algn="r" indent="0" marL="0">
              <a:buNone/>
            </a:pPr>
            <a:r>
              <a:rPr lang="en-US" sz="12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סורקים את הריפו בפועל, מתקנים את הבריף אם יש פער.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1185855" y="2660904"/>
            <a:ext cx="365760" cy="365760"/>
          </a:xfrm>
          <a:prstGeom prst="ellipse">
            <a:avLst/>
          </a:prstGeom>
          <a:solidFill>
            <a:srgbClr val="D7F2EF"/>
          </a:solidFill>
          <a:ln w="12700">
            <a:solidFill>
              <a:srgbClr val="0E9C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85855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33472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אחד, Definition of Done ברור.  </a:t>
            </a:r>
            <a:pPr rtl="1" algn="r" indent="0" marL="0">
              <a:buNone/>
            </a:pPr>
            <a:r>
              <a:rPr lang="en-US" sz="12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עוברים הלאה לפני שהקודם עומד בקריטריון שהוגדר מראש.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1185855" y="3172968"/>
            <a:ext cx="365760" cy="365760"/>
          </a:xfrm>
          <a:prstGeom prst="ellipse">
            <a:avLst/>
          </a:prstGeom>
          <a:solidFill>
            <a:srgbClr val="D7F2EF"/>
          </a:solidFill>
          <a:ln w="12700">
            <a:solidFill>
              <a:srgbClr val="0E9C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85855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45536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בלי מספרים מומצאים.  </a:t>
            </a:r>
            <a:pPr rtl="1" algn="r" indent="0" marL="0">
              <a:buNone/>
            </a:pPr>
            <a:r>
              <a:rPr lang="en-US" sz="12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עלות/זמן/ROI — נמדדים בפועל, או מסומנים כהערכה עם ההנחות גלויות.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185855" y="3685032"/>
            <a:ext cx="365760" cy="365760"/>
          </a:xfrm>
          <a:prstGeom prst="ellipse">
            <a:avLst/>
          </a:prstGeom>
          <a:solidFill>
            <a:srgbClr val="D7F2EF"/>
          </a:solidFill>
          <a:ln w="12700">
            <a:solidFill>
              <a:srgbClr val="0E9C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185855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טיפוסים ירוקה ≠ הקוד עובד.  </a:t>
            </a:r>
            <a:pPr rtl="1" algn="r" indent="0" marL="0">
              <a:buNone/>
            </a:pPr>
            <a:r>
              <a:rPr lang="en-US" sz="12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שינוי נבדק בדפדפן אמיתי לפני שסומן כגמור.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185855" y="4197096"/>
            <a:ext cx="365760" cy="365760"/>
          </a:xfrm>
          <a:prstGeom prst="ellipse">
            <a:avLst/>
          </a:prstGeom>
          <a:solidFill>
            <a:srgbClr val="D7F2EF"/>
          </a:solidFill>
          <a:ln w="12700">
            <a:solidFill>
              <a:srgbClr val="0E9C9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185855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16966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גיט כתיעוד, לא רק גיבוי.  </a:t>
            </a:r>
            <a:pPr rtl="1" algn="r" indent="0" marL="0">
              <a:buNone/>
            </a:pPr>
            <a:r>
              <a:rPr lang="en-US" sz="12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קומיט מסביר את ה"למה" — ההיסטוריה היא יומן ההחלטות.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846320"/>
            <a:ext cx="1091153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846320"/>
            <a:ext cx="10911535" cy="384048"/>
          </a:xfrm>
          <a:prstGeom prst="roundRect">
            <a:avLst>
              <a:gd name="adj" fmla="val 28571"/>
            </a:avLst>
          </a:prstGeom>
          <a:solidFill>
            <a:srgbClr val="EDF7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4846320"/>
            <a:ext cx="10454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 אמיתית: "הסוכן לא עונה"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30352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ניחשתי. </a:t>
            </a:r>
            <a:pPr rtl="1" algn="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בדקתי טבלת לוגים (ריקה לגמרי), ואז שלחתי קריאה אמיתית לפונקציה החיה וראיתי את השגיאה המדויקת: ANTHROPIC_API_KEY is not set.</a:t>
            </a:r>
            <a:pPr rtl="1" algn="r" indent="0" marL="0">
              <a:spcAft>
                <a:spcPts val="600"/>
              </a:spcAft>
              <a:buNone/>
            </a:pPr>
            <a:endParaRPr lang="en-US" sz="11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שורש הבעיה: </a:t>
            </a:r>
            <a:endParaRPr lang="en-US" sz="11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הסוד מעולם לא הוגדר בפרודקשן. תוקן, ואומת שוב מול הפונקציה החיה לפני שסומן כפתור.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זה בפועל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הכלים, והפרומפט שפתח כל סשן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82835" y="2148840"/>
            <a:ext cx="16687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C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82835" y="2148840"/>
            <a:ext cx="166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337499" y="2148840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C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37499" y="214884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36615" y="2148840"/>
            <a:ext cx="236372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C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36615" y="2148840"/>
            <a:ext cx="2363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Management 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65015" y="214884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C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65015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CLI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01491" y="2148840"/>
            <a:ext cx="62636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C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1491" y="2148840"/>
            <a:ext cx="626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548079" y="2148840"/>
            <a:ext cx="201625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C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48079" y="2148840"/>
            <a:ext cx="20162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(Node)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697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סשן עבודה נפתח באותו פרומפט קבוע — כדי שהעבודה תמיד תתחיל מאימות מול המצב האמיתי בריפו, לא מהנחות: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10911535" cy="2743200"/>
          </a:xfrm>
          <a:prstGeom prst="roundRect">
            <a:avLst>
              <a:gd name="adj" fmla="val 4000"/>
            </a:avLst>
          </a:prstGeom>
          <a:solidFill>
            <a:srgbClr val="0F2E2C"/>
          </a:solidFill>
          <a:ln/>
          <a:effectLst>
            <a:outerShdw sx="100000" sy="100000" kx="0" ky="0" algn="bl" rotWithShape="0" blurRad="152400" dist="50800" dir="5400000">
              <a:srgbClr val="5B7A76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3474720"/>
            <a:ext cx="103628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קרא את FINAL-PROJECT-BRIEF.md ואת CLAUDE.md בשורש הריפו.</a:t>
            </a:r>
            <a:endParaRPr lang="en-US" sz="1250" dirty="0"/>
          </a:p>
          <a:p>
            <a:pPr rtl="1" algn="r" indent="0" marL="0">
              <a:lnSpc>
                <a:spcPct val="130000"/>
              </a:lnSpc>
              <a:buNone/>
            </a:pPr>
            <a:endParaRPr lang="en-US" sz="125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לפני שאתה כותב שורת קוד:</a:t>
            </a:r>
            <a:endParaRPr lang="en-US" sz="125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סרוק את הריפו ואמת מה כבר קיים מול טבלת "מצב נוכחי" בבריף.</a:t>
            </a:r>
            <a:endParaRPr lang="en-US" sz="125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אם משהו בבריף לא תואם למציאות בקוד — עצור ותקן את הבריף קודם.</a:t>
            </a:r>
            <a:endParaRPr lang="en-US" sz="125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הצג לי את התוכנית ליום העבודה הנוכחי בלבד.</a:t>
            </a:r>
            <a:endParaRPr lang="en-US" sz="125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אל תתחיל שלב חדש לפני שהקודם עומד ב-Definition of Done שלו.</a:t>
            </a:r>
            <a:endParaRPr lang="en-US" sz="1250" dirty="0"/>
          </a:p>
          <a:p>
            <a:pPr rtl="1" algn="r" indent="0" marL="0">
              <a:lnSpc>
                <a:spcPct val="130000"/>
              </a:lnSpc>
              <a:buNone/>
            </a:pPr>
            <a:endParaRPr lang="en-US" sz="125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עבוד יום אחד בכל פעם. אל תרוץ קדימה.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פרומפטים בפרודקשן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ה-System Prompt שהסוכן חי לפיו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26464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רק פרומפטים לעבודה מול Claude Code — גם הפרומפט עצמו שקובע איך הסוכן החי בפרודקשן מתנהג, ב-supabase/functions/ask/prompt.ts.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10911535" cy="2331720"/>
          </a:xfrm>
          <a:prstGeom prst="roundRect">
            <a:avLst>
              <a:gd name="adj" fmla="val 4706"/>
            </a:avLst>
          </a:prstGeom>
          <a:solidFill>
            <a:srgbClr val="0F2E2C"/>
          </a:solidFill>
          <a:ln/>
          <a:effectLst>
            <a:outerShdw sx="100000" sy="100000" kx="0" ky="0" algn="bl" rotWithShape="0" blurRad="152400" dist="50800" dir="5400000">
              <a:srgbClr val="5B7A76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350008"/>
            <a:ext cx="103628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אתה סוכן נסיעות ישראלי שמלווה משפחה בטיול ספציפי. אתה עונה בעברית בלבד, בגוף שני, בטון חברי וענייני.</a:t>
            </a:r>
            <a:endParaRPr lang="en-US" sz="1050" dirty="0"/>
          </a:p>
          <a:p>
            <a:pPr rtl="1" algn="r" indent="0" marL="0">
              <a:lnSpc>
                <a:spcPct val="125000"/>
              </a:lnSpc>
              <a:buNone/>
            </a:pPr>
            <a:endParaRPr lang="en-US" sz="10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כללים:</a:t>
            </a:r>
            <a:endParaRPr lang="en-US" sz="10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מקומות אמיתיים בלבד. אם אתה לא בטוח שמקום קיים או פתוח — אמור זאת במפורש במקום להמציא.</a:t>
            </a:r>
            <a:endParaRPr lang="en-US" sz="10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אין לך גישה לאינטרנט ולא למחירים, שעות פתיחה, מזג אוויר או תנועה עדכניים. אם נשאלת על אחד</a:t>
            </a:r>
            <a:endParaRPr lang="en-US" sz="10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מאלה — אמור בפירוש שאין לך את המידע העדכני, אל תציע הערכה כללית במקום.</a:t>
            </a:r>
            <a:endParaRPr lang="en-US" sz="10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find_kosher — לכל שאלה על כשרות/שבת/חב״ד. תמיד קרא לכלי הזה במקום לענות מהזיכרון. אם הכלי</a:t>
            </a:r>
            <a:endParaRPr lang="en-US" sz="10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מחזיר שאין כיסוי ליעד — אמור זאת במפורש, אל תנחש ואל תמציא שם מקום.</a:t>
            </a:r>
            <a:endParaRPr lang="en-US" sz="10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כשקוראים ל-add_to_itinerary / add_suggestion: הפעולה לא נכתבת מיד — המשתמש עדיין צריך</a:t>
            </a:r>
            <a:endParaRPr lang="en-US" sz="10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6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לאשר בכרטיס. אל תגיד "הוספתי".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104327" y="4736592"/>
            <a:ext cx="3447288" cy="1417320"/>
          </a:xfrm>
          <a:prstGeom prst="roundRect">
            <a:avLst>
              <a:gd name="adj" fmla="val 7742"/>
            </a:avLst>
          </a:prstGeom>
          <a:solidFill>
            <a:srgbClr val="D7F2E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87207" y="4901184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בלי המצאות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87207" y="53035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איסור מפורש על ניחוש מחירים/שעות/מזג אוויר — "אין לי מידע עדכני" עדיף על תשובה מפוברקת.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7583" y="4736592"/>
            <a:ext cx="3447288" cy="1417320"/>
          </a:xfrm>
          <a:prstGeom prst="roundRect">
            <a:avLst>
              <a:gd name="adj" fmla="val 7742"/>
            </a:avLst>
          </a:prstGeom>
          <a:solidFill>
            <a:srgbClr val="FCE6DD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20463" y="4901184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B8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שימוש מחויב בכלים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20463" y="53035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שאלות כשרות חייבות לעבור דרך find_kosher — לא תשובה "מהזיכרון" של המודל.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0839" y="4736592"/>
            <a:ext cx="3447288" cy="1417320"/>
          </a:xfrm>
          <a:prstGeom prst="roundRect">
            <a:avLst>
              <a:gd name="adj" fmla="val 7742"/>
            </a:avLst>
          </a:prstGeom>
          <a:solidFill>
            <a:srgbClr val="FDF0D9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53719" y="4901184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8A5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בלי לשקר על כתיבה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53719" y="53035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הפרומפט אוסר לומר "הוספתי" לפני שהמשתמש אישר בפועל — עקביות בין הטקסט למנגנון.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בחירת מודל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מודלים, לפי תפקיד — לא אחד לכול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26464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קריאה ל-AI ידועה מראש אם היא שיחתית-תכופה או יצירתית-חד-פעמית, אז המודל נבחר לפי זה ולא באופן גורף.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0911535" cy="13716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4142232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9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תפקיד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9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מודל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9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למה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9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$/Mtok קלט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9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$/Mtok פלט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— סוכן שיחה, tool-use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claude-haiku-4-5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נקרא הרבה, כל הודעה — זמן תגובה ועלות נמוכה קריטיים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— המלצות/מסלול/דרכון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claude-sonnet-5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נקרא פעם אחת לפעולה, כולל ראייה (סריקת דרכון) — איכות עדיפה על מהירות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04327" y="3794760"/>
            <a:ext cx="344728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41487" y="392277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41487" y="4453128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זמן תגובה ממוצע (ask), נמדד בפועל ב-30 שאלות הבדיקה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37583" y="3794760"/>
            <a:ext cx="344728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74743" y="392277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$0.001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574743" y="4453128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ממוצעת לשאלה (ask), נמדדת בפועל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0839" y="3794760"/>
            <a:ext cx="344728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07999" y="392277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907999" y="4453128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תקרת הוצאה יומית למשתמש, לשני המודלים יחד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2578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 הידע (RAG) </a:t>
            </a:r>
            <a:pPr rtl="1" algn="r" indent="0" marL="0">
              <a:buNone/>
            </a:pPr>
            <a:r>
              <a:rPr lang="en-US" sz="12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משתמש במודל שלישי, נפרד: Voyage AI (voyage-4-lite, 1024 ממדים) ליצירת ה-embeddings — לא Claude, כי זו משימת הטמעה ולא שיחה.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אבטחה ותשתית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כניסה עם Google, ומפתחות בצד השרת בלבד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8095" y="210312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D7F2EF"/>
          </a:solidFill>
          <a:ln w="12700">
            <a:solidFill>
              <a:srgbClr val="0E9C9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49263" y="2267712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כניסה עם חשבון Google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49263" y="2670048"/>
            <a:ext cx="4901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מופעל דרך Supabase Auth (OAuth), עם OAuth Client עצמאי בפרויקט Google Cloud "Travel App". המשתמש לוחץ "המשך עם Google" — מועבר לאימות אצל גוגל, וחוזר מחובר, בלי סיסמה נוספת לזכור. זמין לצד ההתחברות הרגילה, לא במקומה.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CE6DD"/>
          </a:solidFill>
          <a:ln w="12700">
            <a:solidFill>
              <a:srgbClr val="EE6D4E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41248" y="2267712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B8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הכלל שקבע את הארכיטקטורה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670048"/>
            <a:ext cx="4901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אף מפתח API לא מגיע לדפדפן — לעולם. כל קריאה למודל שפה, להטמעות, או לאימות עוברת דרך Edge Function בצד השרת, שמחזיק את הסוד. הלקוח (React) לא רואה אף מפתח, אפילו לא ב-network tab.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69080"/>
          <a:ext cx="10911535" cy="2377440"/>
        </p:xfrm>
        <a:graphic>
          <a:graphicData uri="http://schemas.openxmlformats.org/drawingml/2006/table">
            <a:tbl>
              <a:tblPr/>
              <a:tblGrid>
                <a:gridCol w="3291840"/>
                <a:gridCol w="5029200"/>
                <a:gridCol w="3136392"/>
              </a:tblGrid>
              <a:tr h="396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9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מפתח / סוד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9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לאיזה כלי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9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איפה מאוחסן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ANTHROPIC_API_KEY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סוכן השיחה (ask) והפקת תוכן (generate)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secret, בצד השרת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VOYAGE_API_KEY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למקור הידע (RAG)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secret, בצד השרת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OAuth Client ID + Secret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כניסה עם Google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Auth provider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URL + anon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גישת הלקוח למסד/Auth/Storage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ציבורי בכוונה — RLS הוא שער ההגנה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service-role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סקריפטים מקומיים בלבד (evals, seeding)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0F2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קובץ .env מקומי, לא בגיט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זה נראה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כניסה, ומסך הבית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26464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צילומי מסך אמיתיים — טיול "חופשה משפחתית ברודוס" (דוגמה).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27959" y="2286000"/>
            <a:ext cx="1885206" cy="3749040"/>
          </a:xfrm>
          <a:prstGeom prst="roundRect">
            <a:avLst>
              <a:gd name="adj" fmla="val 7761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52400" dist="50800" dir="5400000">
              <a:srgbClr val="5B7A76">
                <a:alpha val="22000"/>
              </a:srgbClr>
            </a:outerShdw>
          </a:effectLst>
        </p:spPr>
      </p:sp>
      <p:pic>
        <p:nvPicPr>
          <p:cNvPr id="7" name="Image 0" descr="C:\Users\user\אפליקציית טיולים\docs\assets\screens\trip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3679" y="2331720"/>
            <a:ext cx="1793766" cy="3657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53639" y="6099048"/>
            <a:ext cx="24338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מסך טיול</a:t>
            </a:r>
            <a:endParaRPr lang="en-US" sz="120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ספירה לאחור, טיסה קרובה, עדכונים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53245" y="2286000"/>
            <a:ext cx="1885206" cy="3749040"/>
          </a:xfrm>
          <a:prstGeom prst="roundRect">
            <a:avLst>
              <a:gd name="adj" fmla="val 7761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52400" dist="50800" dir="5400000">
              <a:srgbClr val="5B7A76">
                <a:alpha val="22000"/>
              </a:srgbClr>
            </a:outerShdw>
          </a:effectLst>
        </p:spPr>
      </p:sp>
      <p:pic>
        <p:nvPicPr>
          <p:cNvPr id="10" name="Image 1" descr="C:\Users\user\אפליקציית טיולים\docs\assets\screens\trips-li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965" y="2331720"/>
            <a:ext cx="1793766" cy="3657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78925" y="6099048"/>
            <a:ext cx="24338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הבית</a:t>
            </a:r>
            <a:endParaRPr lang="en-US" sz="120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הטיולים שלך, ואלה שהוזמנת אליהם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78530" y="2286000"/>
            <a:ext cx="1885206" cy="3749040"/>
          </a:xfrm>
          <a:prstGeom prst="roundRect">
            <a:avLst>
              <a:gd name="adj" fmla="val 7761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52400" dist="50800" dir="5400000">
              <a:srgbClr val="5B7A76">
                <a:alpha val="22000"/>
              </a:srgbClr>
            </a:outerShdw>
          </a:effectLst>
        </p:spPr>
      </p:sp>
      <p:pic>
        <p:nvPicPr>
          <p:cNvPr id="13" name="Image 2" descr="C:\Users\user\אפליקציית טיולים\docs\assets\screens\logi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250" y="2331720"/>
            <a:ext cx="1793766" cy="3657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04210" y="6099048"/>
            <a:ext cx="24338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כניסה</a:t>
            </a:r>
            <a:endParaRPr lang="en-US" sz="120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אימייל+סיסמה, או Google בלחיצה אחת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זה נראה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 ומומלצים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26464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צילומי מסך אמיתיים — טיול "חופשה משפחתית ברודוס" (דוגמה).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62002" y="2286000"/>
            <a:ext cx="1885206" cy="3749040"/>
          </a:xfrm>
          <a:prstGeom prst="roundRect">
            <a:avLst>
              <a:gd name="adj" fmla="val 7761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52400" dist="50800" dir="5400000">
              <a:srgbClr val="5B7A76">
                <a:alpha val="22000"/>
              </a:srgbClr>
            </a:outerShdw>
          </a:effectLst>
        </p:spPr>
      </p:sp>
      <p:pic>
        <p:nvPicPr>
          <p:cNvPr id="7" name="Image 0" descr="C:\Users\user\אפליקציית טיולים\docs\assets\screens\recommendat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7722" y="2331720"/>
            <a:ext cx="1793766" cy="3657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7682" y="6099048"/>
            <a:ext cx="24338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מומלצים</a:t>
            </a:r>
            <a:endParaRPr lang="en-US" sz="120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מסעדות ואטרקציות, מסונן לפי קטגוריה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44488" y="2286000"/>
            <a:ext cx="1885206" cy="3749040"/>
          </a:xfrm>
          <a:prstGeom prst="roundRect">
            <a:avLst>
              <a:gd name="adj" fmla="val 7761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52400" dist="50800" dir="5400000">
              <a:srgbClr val="5B7A76">
                <a:alpha val="22000"/>
              </a:srgbClr>
            </a:outerShdw>
          </a:effectLst>
        </p:spPr>
      </p:sp>
      <p:pic>
        <p:nvPicPr>
          <p:cNvPr id="10" name="Image 1" descr="C:\Users\user\אפליקציית טיולים\docs\assets\screens\itinerar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331720"/>
            <a:ext cx="1793766" cy="3657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70168" y="6099048"/>
            <a:ext cx="24338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</a:t>
            </a:r>
            <a:endParaRPr lang="en-US" sz="120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מסודר לפי ימים, שעות ומיקומים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זה נראה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מסמכים, והסוכן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26464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צילומי מסך אמיתיים — טיול "חופשה משפחתית ברודוס" (דוגמה).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62002" y="2286000"/>
            <a:ext cx="1885206" cy="3749040"/>
          </a:xfrm>
          <a:prstGeom prst="roundRect">
            <a:avLst>
              <a:gd name="adj" fmla="val 7761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52400" dist="50800" dir="5400000">
              <a:srgbClr val="5B7A76">
                <a:alpha val="22000"/>
              </a:srgbClr>
            </a:outerShdw>
          </a:effectLst>
        </p:spPr>
      </p:sp>
      <p:pic>
        <p:nvPicPr>
          <p:cNvPr id="7" name="Image 0" descr="C:\Users\user\אפליקציית טיולים\docs\assets\screens\ask-ag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7722" y="2331720"/>
            <a:ext cx="1793766" cy="3657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7682" y="6099048"/>
            <a:ext cx="24338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שיחה עם מקור ידע מצוטט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44488" y="2286000"/>
            <a:ext cx="1885206" cy="3749040"/>
          </a:xfrm>
          <a:prstGeom prst="roundRect">
            <a:avLst>
              <a:gd name="adj" fmla="val 7761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52400" dist="50800" dir="5400000">
              <a:srgbClr val="5B7A76">
                <a:alpha val="22000"/>
              </a:srgbClr>
            </a:outerShdw>
          </a:effectLst>
        </p:spPr>
      </p:sp>
      <p:pic>
        <p:nvPicPr>
          <p:cNvPr id="10" name="Image 1" descr="C:\Users\user\אפליקציית טיולים\docs\assets\screens\documen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2331720"/>
            <a:ext cx="1793766" cy="3657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70168" y="6099048"/>
            <a:ext cx="24338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מסמכים</a:t>
            </a:r>
            <a:endParaRPr lang="en-US" sz="1200" dirty="0"/>
          </a:p>
          <a:p>
            <a:pPr rtl="1"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העלאת קובץ או קישור חיצוני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ו-MONITORING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מספרים אמיתיים, לא הערכות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26464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שאלות בעברית (עובדתיות, שליפה, וסירוב נכון), נגד תשובה צפויה — ריצת בסיס שמורה להשוואה לפני כל שינוי בפרומפט או במודל.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04327" y="2286000"/>
            <a:ext cx="344728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41487" y="241401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41487" y="2944368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דיוק בריצת הבסיס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7583" y="2286000"/>
            <a:ext cx="344728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4743" y="241401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4743" y="2944368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הזיות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0839" y="2286000"/>
            <a:ext cx="344728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7999" y="241401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07999" y="2944368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כוללת ל-30 שאלות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3434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בפרודקשן: כל קריאה ל-AI נרשמת ב-agent_runs (טוקנים, עלות, זמן תגובה, סטטוס), עם תקרת הוצאה יומית למשתמש ומסך מוניטורינג פנימי לבעלים בלבד.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בנוי ועובד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0848" y="237744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80848" y="25786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2A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72288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אוטומציה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4000" y="356616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מוכח, לא תמיד-דלוק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10232" y="237744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310232" y="25786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401672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 ידע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83384" y="356616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יעדים מאומתים + חיפוש עולמי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39616" y="237744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239616" y="25786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331056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312768" y="356616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כלים + אישור אדם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69000" y="237744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69000" y="25786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26044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42152" y="356616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עלות/זמן לכל קריאה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98384" y="237744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98384" y="25786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189824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71536" y="356616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שאלות + רגרסיה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027768" y="2377440"/>
            <a:ext cx="1783080" cy="21945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027768" y="25786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0119208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פריסה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00920" y="3566160"/>
            <a:ext cx="1636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כתובת חיה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תודה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שאלות?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8095" y="237744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76695" y="2578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כתובת חיה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76695" y="3063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tripcraft-lac.vercel.app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3035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2578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ריפו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63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היסטוריית קומיטים מלאה, כל החלטה מתועדת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2179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</a:t>
            </a:r>
            <a:pPr rtl="1" algn="ctr" indent="0" marL="0">
              <a:buNone/>
            </a:pPr>
            <a:r>
              <a:rPr lang="en-US" sz="12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מלווה הטיולים שלך</a:t>
            </a:r>
            <a:pPr rtl="1" algn="ctr" indent="0" marL="0">
              <a:buNone/>
            </a:pPr>
            <a:r>
              <a:rPr lang="en-US" sz="12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רועי אסדו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שיתוף ואמון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משפחה שלמה בטיול אחד, ומידע שאפשר לסמוך עליו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26464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בן משפחה רואה ועורך לפי התפקיד שלו, והסוכן אומר במפורש עד כמה אפשר לסמוך על מידע על כשרות.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"/>
            <a:ext cx="10911535" cy="0"/>
          </a:xfrm>
          <a:prstGeom prst="line">
            <a:avLst/>
          </a:prstGeom>
          <a:noFill/>
          <a:ln w="9525">
            <a:solidFill>
              <a:srgbClr val="D7E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04327" y="214884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41487" y="227685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41487" y="280720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תפקידים לחברי טיול: צופה, משתתף ועורך. קישור הזמנה לכל תפקיד, והבעלים מאשר כל מצטרף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7583" y="214884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4743" y="227685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4743" y="280720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רמות אמון לכשרות: מאומת ממקור ידע עם תאריך, נמצא במפה (לא מוצג ככשר), או אין מידע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0839" y="2148840"/>
            <a:ext cx="34472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7999" y="2276856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E9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07999" y="280720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בדיקות הרשאות אוטומטיות מול מסד אמיתי: מה כל תפקיד, זר ומבקר אנונימי יכולים לראות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48095" y="3794760"/>
            <a:ext cx="5303520" cy="2148840"/>
          </a:xfrm>
          <a:prstGeom prst="roundRect">
            <a:avLst>
              <a:gd name="adj" fmla="val 5106"/>
            </a:avLst>
          </a:prstGeom>
          <a:solidFill>
            <a:srgbClr val="D7F2EF"/>
          </a:solidFill>
          <a:ln w="12700">
            <a:solidFill>
              <a:srgbClr val="0E9C96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76695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כשרות ושבת בכל יעד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76695" y="443484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אוכל כשר מ-OpenStreetMap ו-Google Places סביב היעד, וזמני שבת וחג מ-Hebcal לתאריכי הטיול. מהשרת יוצאות רק קואורדינטות ותאריכים.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5303520" cy="2148840"/>
          </a:xfrm>
          <a:prstGeom prst="roundRect">
            <a:avLst>
              <a:gd name="adj" fmla="val 5106"/>
            </a:avLst>
          </a:prstGeom>
          <a:solidFill>
            <a:srgbClr val="FCE6DD"/>
          </a:solidFill>
          <a:ln w="12700">
            <a:solidFill>
              <a:srgbClr val="EE6D4E"/>
            </a:solidFill>
            <a:prstDash val="solid"/>
          </a:ln>
          <a:effectLst>
            <a:outerShdw sx="100000" sy="100000" kx="0" ky="0" algn="bl" rotWithShape="0" blurRad="127000" dist="38100" dir="5400000">
              <a:srgbClr val="5B7A76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B8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נסו בעצמכם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43484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4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גולש בלי חשבון משכפל טיול הדגמה ומשחק בו, עם תקציב AI קטן. הנתונים נמחקים אוטומטית אחרי 7 ימים.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539935" y="6473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6B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TripCraft ·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2026-09-15T06:21:41Z</dcterms:created>
  <dcterms:modified xsi:type="dcterms:W3CDTF">2026-09-15T06:21:41Z</dcterms:modified>
</cp:coreProperties>
</file>